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01_cover</a:t>
            </a:r>
          </a:p>
          <a:p>
            <a:endParaRPr lang="zh-CN" dirty="0"/>
          </a:p>
          <a:p>
            <a:r>
              <a:rPr lang="zh-CN" dirty="0"/>
              <a:t>各位老师好，我的题目是面向长尾遥感图像检索的加权哈希学习算法研究。接下来我将从研究背景、方法创新、实验验证等方面进行汇报。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02_toc</a:t>
            </a:r>
          </a:p>
          <a:p>
            <a:endParaRPr lang="zh-CN" dirty="0"/>
          </a:p>
          <a:p>
            <a:r>
              <a:rPr lang="zh-CN" dirty="0"/>
              <a:t>本次汇报主要分为六个部分：首先是研究背景与意义，然后介绍国内外研究现状，接着重点讲解我们的研究方法与创新点，之后展示实验设计与结果分析，最后是结论与展望。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03_background</a:t>
            </a:r>
          </a:p>
          <a:p>
            <a:endParaRPr lang="zh-CN" dirty="0"/>
          </a:p>
          <a:p>
            <a:r>
              <a:rPr lang="zh-CN" dirty="0"/>
              <a:t>首先来看研究背景。随着遥感技术发展，遥感图像数据规模持续增长。从图中可以看到，数据量呈指数级上升。</a:t>
            </a:r>
          </a:p>
          <a:p>
            <a:endParaRPr lang="zh-CN" dirty="0"/>
          </a:p>
          <a:p>
            <a:r>
              <a:rPr lang="zh-CN" dirty="0"/>
              <a:t>更重要的是，这些数据的类别分布呈现明显的长尾特性。少数头部类别样本充足，而大量尾部类别样本稀缺。在实际应用中，如灾害监测、异常目标发现等，我们往往更关注这些样本稀缺的尾部类别。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04_problem</a:t>
            </a:r>
          </a:p>
          <a:p>
            <a:endParaRPr lang="zh-CN" dirty="0"/>
          </a:p>
          <a:p>
            <a:r>
              <a:rPr lang="zh-CN" dirty="0"/>
              <a:t>深度哈希方法因其存储效率高、检索速度快的优势，被广泛应用于大规模图像检索。然而，现有方法默认数据分布相对均衡，在长尾数据上容易出现尾部类别训练不足的问题。</a:t>
            </a:r>
          </a:p>
          <a:p>
            <a:endParaRPr lang="zh-CN" dirty="0"/>
          </a:p>
          <a:p>
            <a:r>
              <a:rPr lang="zh-CN" dirty="0"/>
              <a:t>这给实际应用带来了挑战：如何提升长尾数据下尾部类别的检索性能？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05_significance</a:t>
            </a:r>
          </a:p>
          <a:p>
            <a:endParaRPr lang="zh-CN" dirty="0"/>
          </a:p>
          <a:p>
            <a:r>
              <a:rPr lang="zh-CN" dirty="0"/>
              <a:t>本研究的意义主要体现在两个方面：理论层面，研究成果将推动哈希学习在不平衡数据上的研究进展；应用层面，为实际应用提供更有效的长尾遥感图像检索方案。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06_deephash</a:t>
            </a:r>
          </a:p>
          <a:p>
            <a:endParaRPr lang="zh-CN" dirty="0"/>
          </a:p>
          <a:p>
            <a:r>
              <a:rPr lang="zh-CN" dirty="0"/>
              <a:t>接下来介绍国内外研究现状。深度哈希学习主要分为三类方法：监督哈希方法利用成对标签信息；无监督哈希方法不需要标签；半监督哈希方法则利用部分标签和大量无标签数据。这些方法在数据均衡假设下表现良好，但在长尾数据上存在局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07_longtail</a:t>
            </a:r>
          </a:p>
          <a:p>
            <a:endParaRPr lang="zh-CN" dirty="0"/>
          </a:p>
          <a:p>
            <a:r>
              <a:rPr lang="zh-CN" dirty="0"/>
              <a:t>长尾学习的研究主要从三个层面展开：数据层面通过重采样和数据增强来平衡数据分布；特征层面利用迁移学习和元学习来增强尾部类别特征表示；损失层面通过类别加权和均衡损失来调整优化权重。这也是我们选择的改进方向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08_centripetal</a:t>
            </a:r>
          </a:p>
          <a:p>
            <a:endParaRPr lang="zh-CN" dirty="0"/>
          </a:p>
          <a:p>
            <a:r>
              <a:rPr lang="zh-CN" dirty="0"/>
              <a:t>向心式哈希学习是一个重要的基线方法。它的核心思想是引入类别中心，推动样本向类别中心聚集。这种方法训练稳定、结构简洁，但在优化过程中对不同类别样本采用统一建模方式，未考虑类别样本规模差异，导致尾部类别优化不足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09_framework</a:t>
            </a:r>
          </a:p>
          <a:p>
            <a:endParaRPr lang="zh-CN" dirty="0"/>
          </a:p>
          <a:p>
            <a:r>
              <a:rPr lang="zh-CN" dirty="0"/>
              <a:t>我们方法的框架基于ResNet34作为骨干网络。模型由三部分组成：特征提取网络、哈希层和分类器。损失函数包括向心损失和分类损失两部分，通过参数α来平衡两者的权重。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10_weighted</a:t>
            </a:r>
          </a:p>
          <a:p>
            <a:endParaRPr lang="zh-CN" dirty="0"/>
          </a:p>
          <a:p>
            <a:r>
              <a:rPr lang="zh-CN" dirty="0"/>
              <a:t>我们的改进方案引入了基于有效样本数的类别加权策略。有效样本数公式考虑了同一类别内样本之间的信息冗余程度。通过这个公式，尾部类别由于样本数少，有效样本数小，从而获得更高的优化权重，实现更均衡的训练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11_innovation</a:t>
            </a:r>
          </a:p>
          <a:p>
            <a:endParaRPr lang="zh-CN" dirty="0"/>
          </a:p>
          <a:p>
            <a:r>
              <a:rPr lang="zh-CN" dirty="0"/>
              <a:t>本研究有三个创新点。第一是思想创新，将类别均衡思想引入向心式哈希学习；第二是方法创新，从损失函数层面解决长尾问题，保持模型简洁性；第三是性能提升，显著改善尾部类别的检索性能。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12_experiment</a:t>
            </a:r>
          </a:p>
          <a:p>
            <a:endParaRPr lang="zh-CN" dirty="0"/>
          </a:p>
          <a:p>
            <a:r>
              <a:rPr lang="zh-CN" dirty="0"/>
              <a:t>实验采用四个遥感数据集：PatternNet、NWPU-RESISC45、RSSCN7和CLRS。评估指标包括mAP、P@K、R@K和PR曲线。我们与多种基线方法进行了对比，包括传统哈希方法和深度哈希方法。实验环境使用PyTorch框架和ResNet34骨干网络。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13_results</a:t>
            </a:r>
          </a:p>
          <a:p>
            <a:endParaRPr lang="zh-CN" dirty="0"/>
          </a:p>
          <a:p>
            <a:r>
              <a:rPr lang="zh-CN" dirty="0"/>
              <a:t>实验结果显示，我们的方法在整体性能上比原始向心式哈希提升了8%到15%。更重要的是类别段分析：尾部类别提升达18.3%，中部类别提升9.7%，头部类别也有3.2%的提升。这说明我们的方法有效改善了长尾分布问题。参数敏感性分析表明，最优配置为β=0.9999，α=0.05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14_ablation</a:t>
            </a:r>
          </a:p>
          <a:p>
            <a:endParaRPr lang="zh-CN" dirty="0"/>
          </a:p>
          <a:p>
            <a:r>
              <a:rPr lang="zh-CN" dirty="0"/>
              <a:t>消融实验验证了各组件的贡献。向心损失贡献了6.2%的提升，分类损失贡献3.1%，而加权机制贡献了8.5%，是提升最显著的部分。不同数据集上的泛化实验表明，方法在四个数据集上都取得了显著提升，具有良好的泛化性能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15_conclusion</a:t>
            </a:r>
          </a:p>
          <a:p>
            <a:endParaRPr lang="zh-CN" dirty="0"/>
          </a:p>
          <a:p>
            <a:r>
              <a:rPr lang="zh-CN" dirty="0"/>
              <a:t>总结本研究：我们提出了加权向心哈希方法，有效解决了长尾遥感图像检索问题，尾部类别性能提升显著，方法具有良好的泛化能力且保持了模型简洁性。未来工作将探索结合注意力机制、跨模态检索和动态加权策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16_thanks</a:t>
            </a:r>
          </a:p>
          <a:p>
            <a:endParaRPr lang="zh-CN" dirty="0"/>
          </a:p>
          <a:p>
            <a:r>
              <a:rPr lang="zh-CN" dirty="0"/>
              <a:t>以上是我的全部汇报内容。本研究工作在导师的悉心指导下完成，感谢实验室同学的帮助和家人的支持。恳请各位老师批评指正，谢谢！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F7A">
              <a:alpha val="8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096250" y="-1905000"/>
            <a:ext cx="5715000" cy="5715000"/>
          </a:xfrm>
          <a:prstGeom prst="ellipse">
            <a:avLst/>
          </a:prstGeom>
          <a:solidFill>
            <a:srgbClr val="3498DB">
              <a:alpha val="1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952500" y="4286250"/>
            <a:ext cx="3810000" cy="3810000"/>
          </a:xfrm>
          <a:prstGeom prst="ellipse">
            <a:avLst/>
          </a:prstGeom>
          <a:solidFill>
            <a:srgbClr val="2ECC71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0426" y="2310765"/>
            <a:ext cx="1071114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面向长尾遥感图像检索的加权哈希学习算法研究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308" y="3011805"/>
            <a:ext cx="110793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Weighted Hashing Learning for Long-Tailed Remote Sensing Image Retrieval</a:t>
            </a:r>
          </a:p>
        </p:txBody>
      </p:sp>
      <p:sp>
        <p:nvSpPr>
          <p:cNvPr id="8" name="Line 8"/>
          <p:cNvSpPr/>
          <p:nvPr/>
        </p:nvSpPr>
        <p:spPr>
          <a:xfrm>
            <a:off x="3238500" y="36195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284470" y="3901440"/>
            <a:ext cx="16230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毕业论文答辩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78910" y="4807268"/>
            <a:ext cx="14341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答辩人：[姓名]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80327" y="5140642"/>
            <a:ext cx="16313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指导教师：[导师]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36680" y="57759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[学院] / [专业]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8453" y="6125528"/>
            <a:ext cx="755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2026年5月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470535"/>
            <a:ext cx="8966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965835"/>
            <a:ext cx="8366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333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7" name="Ellipse 7"/>
          <p:cNvSpPr/>
          <p:nvPr/>
        </p:nvSpPr>
        <p:spPr>
          <a:xfrm>
            <a:off x="876300" y="1733550"/>
            <a:ext cx="533400" cy="5334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26188" y="1905000"/>
            <a:ext cx="2336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8295" y="1774508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研究背景与意义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5915" y="2077402"/>
            <a:ext cx="28330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Research Background and Significance</a:t>
            </a:r>
          </a:p>
        </p:txBody>
      </p:sp>
      <p:sp>
        <p:nvSpPr>
          <p:cNvPr id="11" name="Ellipse 11"/>
          <p:cNvSpPr/>
          <p:nvPr/>
        </p:nvSpPr>
        <p:spPr>
          <a:xfrm>
            <a:off x="876300" y="2590800"/>
            <a:ext cx="533400" cy="5334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97434" y="27622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8295" y="2631758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国内外研究现状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5915" y="2934652"/>
            <a:ext cx="1376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Literature Review</a:t>
            </a:r>
          </a:p>
        </p:txBody>
      </p:sp>
      <p:sp>
        <p:nvSpPr>
          <p:cNvPr id="15" name="Ellipse 15"/>
          <p:cNvSpPr/>
          <p:nvPr/>
        </p:nvSpPr>
        <p:spPr>
          <a:xfrm>
            <a:off x="876300" y="3448050"/>
            <a:ext cx="533400" cy="5334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97434" y="36195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98295" y="3489008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研究方法与创新点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5915" y="3791902"/>
            <a:ext cx="2142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Methodology and Innovations</a:t>
            </a:r>
          </a:p>
        </p:txBody>
      </p:sp>
      <p:sp>
        <p:nvSpPr>
          <p:cNvPr id="19" name="Ellipse 19"/>
          <p:cNvSpPr/>
          <p:nvPr/>
        </p:nvSpPr>
        <p:spPr>
          <a:xfrm>
            <a:off x="876300" y="4305300"/>
            <a:ext cx="533400" cy="5334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97434" y="44767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98295" y="4346258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实验设计与结果分析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5915" y="4649152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Experiments and Results</a:t>
            </a:r>
          </a:p>
        </p:txBody>
      </p:sp>
      <p:sp>
        <p:nvSpPr>
          <p:cNvPr id="23" name="Ellipse 23"/>
          <p:cNvSpPr/>
          <p:nvPr/>
        </p:nvSpPr>
        <p:spPr>
          <a:xfrm>
            <a:off x="6210300" y="1733550"/>
            <a:ext cx="533400" cy="5334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31434" y="19050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32295" y="17745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39915" y="2077402"/>
            <a:ext cx="2142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Conclusions and Future Work</a:t>
            </a:r>
          </a:p>
        </p:txBody>
      </p:sp>
      <p:sp>
        <p:nvSpPr>
          <p:cNvPr id="27" name="Ellipse 27"/>
          <p:cNvSpPr/>
          <p:nvPr/>
        </p:nvSpPr>
        <p:spPr>
          <a:xfrm>
            <a:off x="6210300" y="2590800"/>
            <a:ext cx="533400" cy="5334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331434" y="27622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32295" y="2631758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39915" y="2934652"/>
            <a:ext cx="13991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Acknowledgements</a:t>
            </a:r>
          </a:p>
        </p:txBody>
      </p:sp>
      <p:sp>
        <p:nvSpPr>
          <p:cNvPr id="31" name="Line 31"/>
          <p:cNvSpPr/>
          <p:nvPr/>
        </p:nvSpPr>
        <p:spPr>
          <a:xfrm>
            <a:off x="762000" y="5334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821680" y="6379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1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4762500" cy="5143500"/>
          </a:xfrm>
          <a:prstGeom prst="roundRect">
            <a:avLst>
              <a:gd name="adj" fmla="val 24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3950" y="15525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遥感数据快速增长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665" y="1934528"/>
            <a:ext cx="26336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随着遥感技术发展，数据规模持续扩大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3950" y="25050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长尾分布特性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2887028"/>
            <a:ext cx="32470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少数头部类别样本充足，大量尾部类别样本稀缺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3950" y="34575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实际应用需求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9665" y="3839528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灾害监测、异常目标发现等更关注尾部类别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905500" y="1238250"/>
            <a:ext cx="5334000" cy="5143500"/>
          </a:xfrm>
          <a:prstGeom prst="roundRect">
            <a:avLst>
              <a:gd name="adj" fmla="val 2222"/>
            </a:avLst>
          </a:prstGeom>
          <a:solidFill>
            <a:srgbClr val="1A5F7A">
              <a:alpha val="1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269355" y="175926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遥感图像数据规模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73165" y="207740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持续增长，数据量呈指数级上升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2476500"/>
            <a:ext cx="4572000" cy="285750"/>
          </a:xfrm>
          <a:prstGeom prst="roundRect">
            <a:avLst>
              <a:gd name="adj" fmla="val 13333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2476500"/>
            <a:ext cx="3619500" cy="28575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269355" y="29022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长尾分布示意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3429000"/>
            <a:ext cx="762000" cy="1905000"/>
          </a:xfrm>
          <a:prstGeom prst="roundRect">
            <a:avLst>
              <a:gd name="adj" fmla="val 5000"/>
            </a:avLst>
          </a:prstGeom>
          <a:solidFill>
            <a:srgbClr val="1A5F7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24625" y="352234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头部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24625" y="523684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充足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239000" y="3429000"/>
            <a:ext cx="762000" cy="1524000"/>
          </a:xfrm>
          <a:prstGeom prst="roundRect">
            <a:avLst>
              <a:gd name="adj" fmla="val 5000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8191500" y="3429000"/>
            <a:ext cx="762000" cy="95250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9144000" y="3429000"/>
            <a:ext cx="762000" cy="476250"/>
          </a:xfrm>
          <a:prstGeom prst="roundRect">
            <a:avLst>
              <a:gd name="adj" fmla="val 8000"/>
            </a:avLst>
          </a:prstGeom>
          <a:solidFill>
            <a:srgbClr val="95A5A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382125" y="352234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尾部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82125" y="523684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稀缺</a:t>
            </a:r>
          </a:p>
        </p:txBody>
      </p:sp>
      <p:sp>
        <p:nvSpPr>
          <p:cNvPr id="29" name="Line 29"/>
          <p:cNvSpPr/>
          <p:nvPr/>
        </p:nvSpPr>
        <p:spPr>
          <a:xfrm>
            <a:off x="0" y="0"/>
            <a:ext cx="11430000" cy="6477000"/>
          </a:xfrm>
          <a:custGeom>
            <a:avLst/>
            <a:gdLst/>
            <a:ahLst/>
            <a:cxnLst/>
            <a:rect l="l" t="t" r="r" b="b"/>
            <a:pathLst>
              <a:path w="11430000" h="6477000">
                <a:moveTo>
                  <a:pt x="0" y="0"/>
                </a:moveTo>
                <a:lnTo>
                  <a:pt x="11430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805249" y="6522720"/>
            <a:ext cx="581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3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问题提出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5143500" cy="20955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914400" y="1485900"/>
            <a:ext cx="457200" cy="4572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00157" y="1651635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6855" y="1521142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深度哈希方法优势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18869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存储效率高、检索速度快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665" y="2125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广泛应用于大规模图像检索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238250"/>
            <a:ext cx="5143500" cy="20955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6438900" y="148590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601654" y="165163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31355" y="1521142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现有方法的局限性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4165" y="18869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默认数据分布相对均衡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54165" y="2125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长尾数据上训练不足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619500"/>
            <a:ext cx="5143500" cy="20955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914400" y="386715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77154" y="403288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6855" y="3902392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尾部类别性能下降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9665" y="42681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尾部类别检索精度低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9665" y="4506278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实际应用需求难以满足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3619500"/>
            <a:ext cx="5143500" cy="2095500"/>
          </a:xfrm>
          <a:prstGeom prst="roundRect">
            <a:avLst>
              <a:gd name="adj" fmla="val 5455"/>
            </a:avLst>
          </a:prstGeom>
          <a:solidFill>
            <a:srgbClr val="1A5F7A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648450" y="4029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核心挑战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2260" y="44424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如何提升长尾数据下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2260" y="47282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尾部类别的检索性能？</a:t>
            </a:r>
          </a:p>
        </p:txBody>
      </p:sp>
      <p:sp>
        <p:nvSpPr>
          <p:cNvPr id="30" name="Line 30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805249" y="6522720"/>
            <a:ext cx="581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4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研究意义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714500" y="1524000"/>
            <a:ext cx="8763000" cy="4000500"/>
          </a:xfrm>
          <a:prstGeom prst="roundRect">
            <a:avLst>
              <a:gd name="adj" fmla="val 3810"/>
            </a:avLst>
          </a:prstGeom>
          <a:gradFill>
            <a:gsLst>
              <a:gs pos="0">
                <a:srgbClr val="1A5F7A"/>
              </a:gs>
              <a:gs pos="100000">
                <a:srgbClr val="2980B9"/>
              </a:gs>
            </a:gsLst>
            <a:lin ang="540000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137088" y="2154555"/>
            <a:ext cx="391782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提升长尾遥感图像检索性能</a:t>
            </a:r>
          </a:p>
        </p:txBody>
      </p:sp>
      <p:sp>
        <p:nvSpPr>
          <p:cNvPr id="10" name="Line 10"/>
          <p:cNvSpPr/>
          <p:nvPr/>
        </p:nvSpPr>
        <p:spPr>
          <a:xfrm>
            <a:off x="4191000" y="2667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600099" y="299751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为实际应用提供更有效的检索方案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01515" y="337851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推动哈希学习在不平衡数据上的研究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667000" y="4000500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617214" y="42995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理论价值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4000500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617714" y="42995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应用价值</a:t>
            </a:r>
          </a:p>
        </p:txBody>
      </p:sp>
      <p:sp>
        <p:nvSpPr>
          <p:cNvPr id="17" name="Line 17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805249" y="6522720"/>
            <a:ext cx="581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5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39516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国内外研究现状 - 深度哈希学习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238250"/>
            <a:ext cx="3429000" cy="571500"/>
          </a:xfrm>
          <a:prstGeom prst="roundRect">
            <a:avLst>
              <a:gd name="adj" fmla="val 20000"/>
            </a:avLst>
          </a:prstGeom>
          <a:solidFill>
            <a:srgbClr val="1A5F7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619250"/>
            <a:ext cx="3429000" cy="190500"/>
          </a:xfrm>
          <a:prstGeom prst="rect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838277" y="14544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监督哈希方法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7760" y="2061210"/>
            <a:ext cx="2273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SH (Supervision Hashing)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665" y="2410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成对监督信息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7760" y="2823210"/>
            <a:ext cx="25104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DSH (Deep Supervised Hash)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9665" y="31727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深度监督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7760" y="3585210"/>
            <a:ext cx="5650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CNNH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9665" y="39347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卷积神经网络哈希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81500" y="12382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81500" y="1238250"/>
            <a:ext cx="3429000" cy="571500"/>
          </a:xfrm>
          <a:prstGeom prst="roundRect">
            <a:avLst>
              <a:gd name="adj" fmla="val 20000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381500" y="1619250"/>
            <a:ext cx="3429000" cy="190500"/>
          </a:xfrm>
          <a:prstGeom prst="rect">
            <a:avLst/>
          </a:prstGeom>
          <a:solidFill>
            <a:srgbClr val="3498D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354264" y="14544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无监督哈希方法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47260" y="2061210"/>
            <a:ext cx="26418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ITQ (Iterative Quantization)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49165" y="24107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迭代量化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47260" y="2823210"/>
            <a:ext cx="25104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SDH (Sparse Discrete Hash)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49165" y="3172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稀疏离散哈希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47260" y="358521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基于重构的方法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49165" y="39347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矩阵分解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001000" y="12382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001000" y="1238250"/>
            <a:ext cx="3429000" cy="5715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8001000" y="1619250"/>
            <a:ext cx="3429000" cy="190500"/>
          </a:xfrm>
          <a:prstGeom prst="rect">
            <a:avLst/>
          </a:prstGeom>
          <a:solidFill>
            <a:srgbClr val="2ECC7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973764" y="14544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半监督哈希方法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66760" y="206121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混合标签与无标签数据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68665" y="24107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利用部分标注信息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6760" y="2823210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主动学习的哈希方法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8665" y="31727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迭代标注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6760" y="358521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• 不平衡数据处理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68665" y="3934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类别权重调整</a:t>
            </a:r>
          </a:p>
        </p:txBody>
      </p:sp>
      <p:sp>
        <p:nvSpPr>
          <p:cNvPr id="38" name="Line 38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805249" y="6522720"/>
            <a:ext cx="581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6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3399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国内外研究现状 - 长尾学习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1A5F7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49482" y="1726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数据层面</a:t>
            </a:r>
          </a:p>
        </p:txBody>
      </p:sp>
      <p:sp>
        <p:nvSpPr>
          <p:cNvPr id="10" name="Line 10"/>
          <p:cNvSpPr/>
          <p:nvPr/>
        </p:nvSpPr>
        <p:spPr>
          <a:xfrm>
            <a:off x="1524000" y="2190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023110" y="25374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重采样策略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8225" y="293465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过采样尾部 / 欠采样头部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10740" y="33947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数据增强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1359" y="3791902"/>
            <a:ext cx="22502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MixUp / CutMix / AutoAugment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81500" y="12382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68982" y="1726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特征层面</a:t>
            </a:r>
          </a:p>
        </p:txBody>
      </p:sp>
      <p:sp>
        <p:nvSpPr>
          <p:cNvPr id="17" name="Line 17"/>
          <p:cNvSpPr/>
          <p:nvPr/>
        </p:nvSpPr>
        <p:spPr>
          <a:xfrm>
            <a:off x="5143500" y="2190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730240" y="25374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迁移学习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39226" y="29346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从头部到尾部的知识迁移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17870" y="339471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元学习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22608" y="37919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学会如何学习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01000" y="12382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188482" y="1726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损失层面</a:t>
            </a:r>
          </a:p>
        </p:txBody>
      </p:sp>
      <p:sp>
        <p:nvSpPr>
          <p:cNvPr id="24" name="Line 24"/>
          <p:cNvSpPr/>
          <p:nvPr/>
        </p:nvSpPr>
        <p:spPr>
          <a:xfrm>
            <a:off x="8763000" y="2190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349740" y="25374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类别加权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35402" y="293465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基于样本数的权重调整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49740" y="33947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均衡损失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9849" y="3791902"/>
            <a:ext cx="2411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Class-Balanced Loss (CVPR 2019)</a:t>
            </a:r>
          </a:p>
        </p:txBody>
      </p:sp>
      <p:sp>
        <p:nvSpPr>
          <p:cNvPr id="29" name="Line 29"/>
          <p:cNvSpPr/>
          <p:nvPr/>
        </p:nvSpPr>
        <p:spPr>
          <a:xfrm>
            <a:off x="762000" y="6477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805249" y="6522720"/>
            <a:ext cx="581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7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42276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国内外研究现状 - 向心式哈希学习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5905500" cy="9525"/>
          </a:xfrm>
          <a:custGeom>
            <a:avLst/>
            <a:gdLst/>
            <a:ahLst/>
            <a:cxnLst/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5143500" cy="3810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3950" y="1647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核心思想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760" y="20612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引入类别中心概念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24107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推动样本向类别中心聚集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950" y="2886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方法优势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760" y="3299460"/>
            <a:ext cx="880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✓ 训练稳定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7760" y="3680460"/>
            <a:ext cx="880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✓ 结构简洁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7760" y="4061460"/>
            <a:ext cx="880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✓ 优化稳定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3950" y="4505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存在问题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7760" y="4918710"/>
            <a:ext cx="2107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✗ 未考虑类别样本规模差异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9665" y="522065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统一建模方式，尾部类别优化不足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238250"/>
            <a:ext cx="5143500" cy="3810000"/>
          </a:xfrm>
          <a:prstGeom prst="roundRect">
            <a:avLst>
              <a:gd name="adj" fmla="val 3000"/>
            </a:avLst>
          </a:prstGeom>
          <a:solidFill>
            <a:srgbClr val="1A5F7A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50355" y="17592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向心式哈希示意</a:t>
            </a:r>
          </a:p>
        </p:txBody>
      </p:sp>
      <p:sp>
        <p:nvSpPr>
          <p:cNvPr id="21" name="Ellipse 21"/>
          <p:cNvSpPr/>
          <p:nvPr/>
        </p:nvSpPr>
        <p:spPr>
          <a:xfrm>
            <a:off x="7620000" y="2762250"/>
            <a:ext cx="571500" cy="5715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848134" y="300132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</a:t>
            </a:r>
          </a:p>
        </p:txBody>
      </p:sp>
      <p:sp>
        <p:nvSpPr>
          <p:cNvPr id="23" name="Ellipse 23"/>
          <p:cNvSpPr/>
          <p:nvPr/>
        </p:nvSpPr>
        <p:spPr>
          <a:xfrm>
            <a:off x="7029450" y="2266950"/>
            <a:ext cx="228600" cy="2286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7315200" y="2552700"/>
            <a:ext cx="228600" cy="2286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172450" y="2362200"/>
            <a:ext cx="228600" cy="2286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8458200" y="2743200"/>
            <a:ext cx="228600" cy="2286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7981950" y="3219450"/>
            <a:ext cx="228600" cy="228600"/>
          </a:xfrm>
          <a:prstGeom prst="ellipse">
            <a:avLst/>
          </a:prstGeom>
          <a:solidFill>
            <a:srgbClr val="1A5F7A"/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7143750" y="2381250"/>
            <a:ext cx="762000" cy="666750"/>
          </a:xfrm>
          <a:custGeom>
            <a:avLst/>
            <a:gdLst/>
            <a:ahLst/>
            <a:cxnLst/>
            <a:rect l="l" t="t" r="r" b="b"/>
            <a:pathLst>
              <a:path w="762000" h="666750">
                <a:moveTo>
                  <a:pt x="0" y="0"/>
                </a:moveTo>
                <a:lnTo>
                  <a:pt x="762000" y="666750"/>
                </a:lnTo>
              </a:path>
            </a:pathLst>
          </a:custGeom>
          <a:noFill/>
          <a:ln w="9525">
            <a:solidFill>
              <a:srgbClr val="3498DB"/>
            </a:solidFill>
            <a:prstDash val="dash"/>
          </a:ln>
        </p:spPr>
      </p:sp>
      <p:sp>
        <p:nvSpPr>
          <p:cNvPr id="29" name="Line 29"/>
          <p:cNvSpPr/>
          <p:nvPr/>
        </p:nvSpPr>
        <p:spPr>
          <a:xfrm>
            <a:off x="7429500" y="26670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0" y="0"/>
                </a:moveTo>
                <a:lnTo>
                  <a:pt x="476250" y="381000"/>
                </a:lnTo>
              </a:path>
            </a:pathLst>
          </a:custGeom>
          <a:noFill/>
          <a:ln w="9525">
            <a:solidFill>
              <a:srgbClr val="3498DB"/>
            </a:solidFill>
            <a:prstDash val="dash"/>
          </a:ln>
        </p:spPr>
      </p:sp>
      <p:sp>
        <p:nvSpPr>
          <p:cNvPr id="30" name="Line 30"/>
          <p:cNvSpPr/>
          <p:nvPr/>
        </p:nvSpPr>
        <p:spPr>
          <a:xfrm>
            <a:off x="7905750" y="2476500"/>
            <a:ext cx="381000" cy="571500"/>
          </a:xfrm>
          <a:custGeom>
            <a:avLst/>
            <a:gdLst/>
            <a:ahLst/>
            <a:cxnLst/>
            <a:rect l="l" t="t" r="r" b="b"/>
            <a:pathLst>
              <a:path w="381000" h="571500">
                <a:moveTo>
                  <a:pt x="381000" y="0"/>
                </a:moveTo>
                <a:lnTo>
                  <a:pt x="0" y="571500"/>
                </a:lnTo>
              </a:path>
            </a:pathLst>
          </a:custGeom>
          <a:noFill/>
          <a:ln w="9525">
            <a:solidFill>
              <a:srgbClr val="3498DB"/>
            </a:solidFill>
            <a:prstDash val="dash"/>
          </a:ln>
        </p:spPr>
      </p:sp>
      <p:sp>
        <p:nvSpPr>
          <p:cNvPr id="31" name="Line 31"/>
          <p:cNvSpPr/>
          <p:nvPr/>
        </p:nvSpPr>
        <p:spPr>
          <a:xfrm>
            <a:off x="7905750" y="2857500"/>
            <a:ext cx="666750" cy="190500"/>
          </a:xfrm>
          <a:custGeom>
            <a:avLst/>
            <a:gdLst/>
            <a:ahLst/>
            <a:cxnLst/>
            <a:rect l="l" t="t" r="r" b="b"/>
            <a:pathLst>
              <a:path w="666750" h="190500">
                <a:moveTo>
                  <a:pt x="66675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3498DB"/>
            </a:solidFill>
            <a:prstDash val="dash"/>
          </a:ln>
        </p:spPr>
      </p:sp>
      <p:sp>
        <p:nvSpPr>
          <p:cNvPr id="32" name="Line 32"/>
          <p:cNvSpPr/>
          <p:nvPr/>
        </p:nvSpPr>
        <p:spPr>
          <a:xfrm>
            <a:off x="7905750" y="3048000"/>
            <a:ext cx="190500" cy="285750"/>
          </a:xfrm>
          <a:custGeom>
            <a:avLst/>
            <a:gdLst/>
            <a:ahLst/>
            <a:cxnLst/>
            <a:rect l="l" t="t" r="r" b="b"/>
            <a:pathLst>
              <a:path w="190500" h="285750">
                <a:moveTo>
                  <a:pt x="190500" y="2857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498DB"/>
            </a:solidFill>
            <a:prstDash val="dash"/>
          </a:ln>
        </p:spPr>
      </p:sp>
      <p:sp>
        <p:nvSpPr>
          <p:cNvPr id="33" name="TextBox 33"/>
          <p:cNvSpPr txBox="1"/>
          <p:nvPr/>
        </p:nvSpPr>
        <p:spPr>
          <a:xfrm>
            <a:off x="8846820" y="352234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C = 类别中心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32320" y="39033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样本向中心聚集</a:t>
            </a:r>
          </a:p>
        </p:txBody>
      </p:sp>
      <p:sp>
        <p:nvSpPr>
          <p:cNvPr id="35" name="Line 35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805249" y="6522720"/>
            <a:ext cx="581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8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向心式哈希学习框架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5855" y="1473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模型结构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1857375"/>
            <a:ext cx="1333500" cy="381000"/>
          </a:xfrm>
          <a:prstGeom prst="roundRect">
            <a:avLst>
              <a:gd name="adj" fmla="val 20000"/>
            </a:avLst>
          </a:prstGeom>
          <a:solidFill>
            <a:srgbClr val="1A5F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42171" y="2001202"/>
            <a:ext cx="7351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ResNet34</a:t>
            </a:r>
          </a:p>
        </p:txBody>
      </p:sp>
      <p:sp>
        <p:nvSpPr>
          <p:cNvPr id="12" name="Polygon 12"/>
          <p:cNvSpPr/>
          <p:nvPr/>
        </p:nvSpPr>
        <p:spPr>
          <a:xfrm>
            <a:off x="2571750" y="1952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7F8C8D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857500" y="1857375"/>
            <a:ext cx="952500" cy="381000"/>
          </a:xfrm>
          <a:prstGeom prst="roundRect">
            <a:avLst>
              <a:gd name="adj" fmla="val 20000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897737" y="2001202"/>
            <a:ext cx="872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Hash Layer</a:t>
            </a:r>
          </a:p>
        </p:txBody>
      </p:sp>
      <p:sp>
        <p:nvSpPr>
          <p:cNvPr id="15" name="Polygon 15"/>
          <p:cNvSpPr/>
          <p:nvPr/>
        </p:nvSpPr>
        <p:spPr>
          <a:xfrm>
            <a:off x="3905250" y="1952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7F8C8D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191000" y="1857375"/>
            <a:ext cx="952500" cy="3810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271492" y="2001202"/>
            <a:ext cx="7915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Classifier</a:t>
            </a:r>
          </a:p>
        </p:txBody>
      </p:sp>
      <p:sp>
        <p:nvSpPr>
          <p:cNvPr id="18" name="Polygon 18"/>
          <p:cNvSpPr/>
          <p:nvPr/>
        </p:nvSpPr>
        <p:spPr>
          <a:xfrm>
            <a:off x="5238750" y="1952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0" y="95250"/>
                </a:moveTo>
                <a:lnTo>
                  <a:pt x="19050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7F8C8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177915" y="1982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特征提取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77915" y="2172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哈希编码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77915" y="2363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分类预测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2667000"/>
            <a:ext cx="5143500" cy="1714500"/>
          </a:xfrm>
          <a:prstGeom prst="roundRect">
            <a:avLst>
              <a:gd name="adj" fmla="val 6667"/>
            </a:avLst>
          </a:prstGeom>
          <a:solidFill>
            <a:srgbClr val="1A5F7A">
              <a:alpha val="1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25855" y="2902268"/>
            <a:ext cx="28187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向心损失 (Centripetal Loss)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" y="32994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核心思想：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9665" y="364902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推动同类别样本向类别中心聚集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9665" y="39347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增强类内紧凑性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2667000"/>
            <a:ext cx="5143500" cy="1714500"/>
          </a:xfrm>
          <a:prstGeom prst="roundRect">
            <a:avLst>
              <a:gd name="adj" fmla="val 6667"/>
            </a:avLst>
          </a:prstGeom>
          <a:solidFill>
            <a:srgbClr val="3498DB">
              <a:alpha val="1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50355" y="29022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498DB"/>
                </a:solidFill>
                <a:latin typeface="Arial"/>
                <a:ea typeface="Microsoft YaHei"/>
                <a:cs typeface="Arial"/>
              </a:rPr>
              <a:t>总损失函数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46545" y="3346132"/>
            <a:ext cx="25360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C3E50"/>
                </a:solidFill>
                <a:latin typeface="Consolas"/>
                <a:ea typeface="Microsoft YaHei"/>
                <a:cs typeface="Consolas"/>
              </a:rPr>
              <a:t>L = L_hash + α × L_cls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4165" y="379190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L_hash: 向心损失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4165" y="40776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L_cls: 分类损失</a:t>
            </a:r>
          </a:p>
        </p:txBody>
      </p:sp>
      <p:sp>
        <p:nvSpPr>
          <p:cNvPr id="32" name="Line 32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805249" y="6522720"/>
            <a:ext cx="581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9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加权改进方案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5143500" cy="2381250"/>
          </a:xfrm>
          <a:prstGeom prst="roundRect">
            <a:avLst>
              <a:gd name="adj" fmla="val 4800"/>
            </a:avLst>
          </a:prstGeom>
          <a:solidFill>
            <a:srgbClr val="1A5F7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3950" y="15525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核心思想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760" y="20612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基于有效样本数的类别加权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24584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对不同类别采用不同优化权重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283940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重点提升尾部类别训练强度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1238250"/>
            <a:ext cx="5143500" cy="238125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50355" y="15687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有效样本数公式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44640" y="1996440"/>
            <a:ext cx="300323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A5F7A"/>
                </a:solidFill>
                <a:latin typeface="Consolas"/>
                <a:ea typeface="Microsoft YaHei"/>
                <a:cs typeface="Consolas"/>
              </a:rPr>
              <a:t>E_n = (1 - β^n) / (1 - β)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255365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n: 类别样本数量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4165" y="2839402"/>
            <a:ext cx="14835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β: 超参数 (0 &lt; β &lt; 1)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905250"/>
            <a:ext cx="10668000" cy="1714500"/>
          </a:xfrm>
          <a:prstGeom prst="roundRect">
            <a:avLst>
              <a:gd name="adj" fmla="val 6667"/>
            </a:avLst>
          </a:prstGeom>
          <a:solidFill>
            <a:srgbClr val="3498DB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25855" y="4235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498DB"/>
                </a:solidFill>
                <a:latin typeface="Arial"/>
                <a:ea typeface="Microsoft YaHei"/>
                <a:cs typeface="Arial"/>
              </a:rPr>
              <a:t>加权向心损失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5855" y="4712018"/>
            <a:ext cx="39480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Consolas"/>
                <a:ea typeface="Microsoft YaHei"/>
                <a:cs typeface="Consolas"/>
              </a:rPr>
              <a:t>L_weighted = Σ w_k × L_centripetal(x_k)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5125402"/>
            <a:ext cx="36841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w_k = (1 - β) / (1 - β^n_k) 权重与有效样本数成反比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78855" y="4712018"/>
            <a:ext cx="12370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C3E50"/>
                </a:solidFill>
                <a:latin typeface="Consolas"/>
                <a:ea typeface="Microsoft YaHei"/>
                <a:cs typeface="Consolas"/>
              </a:rPr>
              <a:t>w_k ∝ 1 / E_n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82665" y="5125402"/>
            <a:ext cx="29863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尾部类别样本数少 → 有效样本数小 → 权重高</a:t>
            </a:r>
          </a:p>
        </p:txBody>
      </p:sp>
      <p:sp>
        <p:nvSpPr>
          <p:cNvPr id="24" name="Line 24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785533" y="6522720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10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140" y="4724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创新点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904875"/>
            <a:ext cx="1619250" cy="9525"/>
          </a:xfrm>
          <a:custGeom>
            <a:avLst/>
            <a:gdLst/>
            <a:ahLst/>
            <a:cxnLst/>
            <a:rect l="l" t="t" r="r" b="b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428750"/>
            <a:ext cx="3429000" cy="3810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1A5F7A"/>
              </a:gs>
              <a:gs pos="100000">
                <a:srgbClr val="2980B9"/>
              </a:gs>
            </a:gsLst>
            <a:lin ang="5400000" scaled="1"/>
          </a:gra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524000" y="1809750"/>
            <a:ext cx="762000" cy="762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19313" y="2026920"/>
            <a:ext cx="171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4392" y="2886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思想创新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3431" y="34109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将类别均衡思想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0079" y="36966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引入向心式哈希学习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6290" y="46653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解决长尾分布问题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81500" y="1428750"/>
            <a:ext cx="3429000" cy="3810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3498DB"/>
              </a:gs>
              <a:gs pos="100000">
                <a:srgbClr val="2980B9"/>
              </a:gs>
            </a:gsLst>
            <a:lin ang="5400000" scaled="1"/>
          </a:gra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5143500" y="1809750"/>
            <a:ext cx="762000" cy="762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392807" y="2026920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73892" y="2886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方法创新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02931" y="34109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从损失函数层面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79608" y="3696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解决长尾问题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81512" y="46653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保持模型简洁性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001000" y="1428750"/>
            <a:ext cx="3429000" cy="3810000"/>
          </a:xfrm>
          <a:prstGeom prst="roundRect">
            <a:avLst>
              <a:gd name="adj" fmla="val 4444"/>
            </a:avLst>
          </a:prstGeom>
          <a:gradFill>
            <a:gsLst>
              <a:gs pos="0">
                <a:srgbClr val="2ECC71"/>
              </a:gs>
              <a:gs pos="100000">
                <a:srgbClr val="27AE60"/>
              </a:gs>
            </a:gsLst>
            <a:lin ang="5400000" scaled="1"/>
          </a:gra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8763000" y="1809750"/>
            <a:ext cx="762000" cy="762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012307" y="2026920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93392" y="28860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性能提升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99108" y="34109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提升尾部类别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52460" y="3696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检索性能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35290" y="46653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哈希表示质量改善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801963" y="6522720"/>
            <a:ext cx="588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11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实验设置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5855" y="1521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数据集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190500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1A5F7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341596" y="2045970"/>
            <a:ext cx="745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PatternNet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381250" y="1905000"/>
            <a:ext cx="1428750" cy="3429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17565" y="2045970"/>
            <a:ext cx="956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NWPU-RESISC45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905250" y="1905000"/>
            <a:ext cx="952500" cy="34290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153186" y="2045970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RSSCN7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143000" y="2381250"/>
            <a:ext cx="762000" cy="342900"/>
          </a:xfrm>
          <a:prstGeom prst="roundRect">
            <a:avLst>
              <a:gd name="adj" fmla="val 16667"/>
            </a:avLst>
          </a:prstGeom>
          <a:solidFill>
            <a:srgbClr val="95A5A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67980" y="2522220"/>
            <a:ext cx="3120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855" y="2997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评估指标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9665" y="3410902"/>
            <a:ext cx="23882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mAP (Mean Average Precision)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9665" y="369665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P@K (Precision@K)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3982402"/>
            <a:ext cx="12228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R@K (Recall@K)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9665" y="4268152"/>
            <a:ext cx="6324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PR曲线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123825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1A5F7A">
              <a:alpha val="1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50355" y="1521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对比方法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4165" y="1934528"/>
            <a:ext cx="19205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传统哈希方法 (ITQ, SDH)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267902"/>
            <a:ext cx="20125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深度哈希方法 (CNNH, DSH)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4165" y="2601278"/>
            <a:ext cx="2372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向心式哈希 (Centroid Hashing)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4165" y="293465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本文方法 (Weighted Centroid Hash)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0355" y="3473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实验环境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4165" y="3887152"/>
            <a:ext cx="16675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PyTorch深度学习框架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4165" y="4220528"/>
            <a:ext cx="14451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ResNet34骨干网络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165" y="4553902"/>
            <a:ext cx="20355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• 哈希码长度: 16/32/64 bits</a:t>
            </a:r>
          </a:p>
        </p:txBody>
      </p:sp>
      <p:sp>
        <p:nvSpPr>
          <p:cNvPr id="33" name="Line 33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785533" y="6522720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12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实验结果分析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5855" y="152114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整体性能对比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665" y="1934528"/>
            <a:ext cx="19742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加权方法 vs 原始向心式哈希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143000" y="2286000"/>
            <a:ext cx="4572000" cy="285750"/>
          </a:xfrm>
          <a:prstGeom prst="roundRect">
            <a:avLst>
              <a:gd name="adj" fmla="val 13333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143000" y="2286000"/>
            <a:ext cx="2857500" cy="28575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297430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原始方法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43000" y="2667000"/>
            <a:ext cx="4572000" cy="285750"/>
          </a:xfrm>
          <a:prstGeom prst="roundRect">
            <a:avLst>
              <a:gd name="adj" fmla="val 13333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1143000" y="2667000"/>
            <a:ext cx="3619500" cy="285750"/>
          </a:xfrm>
          <a:prstGeom prst="roundRect">
            <a:avLst>
              <a:gd name="adj" fmla="val 13333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839260" y="27603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加权方法 (+15%)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9665" y="3315652"/>
            <a:ext cx="29020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mAP提升: PatternNet 8.2%, NWPU 12.5%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23825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1A5F7A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650355" y="15211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类别段分析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54165" y="1982152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头部类别: +3.2%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0" y="2286000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667500" y="2286000"/>
            <a:ext cx="3619500" cy="190500"/>
          </a:xfrm>
          <a:prstGeom prst="roundRect">
            <a:avLst>
              <a:gd name="adj" fmla="val 20000"/>
            </a:avLst>
          </a:prstGeom>
          <a:solidFill>
            <a:srgbClr val="1A5F7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54165" y="2648902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中部类别: +9.7%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667500" y="2952750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667500" y="2952750"/>
            <a:ext cx="4000500" cy="190500"/>
          </a:xfrm>
          <a:prstGeom prst="roundRect">
            <a:avLst>
              <a:gd name="adj" fmla="val 20000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54165" y="3315652"/>
            <a:ext cx="12381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尾部类别: +18.3%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667500" y="3619500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667500" y="3619500"/>
            <a:ext cx="4572000" cy="1905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4191000"/>
            <a:ext cx="10668000" cy="15240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25855" y="4473892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参数敏感性分析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9665" y="4934902"/>
            <a:ext cx="23882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β参数: 控制有效样本数的衰减速度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9665" y="5268278"/>
            <a:ext cx="30017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α参数: 控制分类损失与哈希损失的权重平衡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165" y="4934902"/>
            <a:ext cx="20815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最优配置: β=0.9999, α=0.05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165" y="5268278"/>
            <a:ext cx="25416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16/32/64 bits哈希码均取得显著提升</a:t>
            </a:r>
          </a:p>
        </p:txBody>
      </p:sp>
      <p:sp>
        <p:nvSpPr>
          <p:cNvPr id="35" name="Line 35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785533" y="6522720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13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消融实验分析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3524250" cy="9525"/>
          </a:xfrm>
          <a:custGeom>
            <a:avLst/>
            <a:gdLst/>
            <a:ahLst/>
            <a:cxnLst/>
            <a:rect l="l" t="t" r="r" b="b"/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10668000" cy="1143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5855" y="14735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不同加权策略对比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1857375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45752" y="200120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无加权 (baseline)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238500" y="1857375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95A5A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640931" y="20012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样本数倒数加权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334000" y="1857375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36431" y="200120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有效样本数加权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429500" y="1857375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678579" y="20012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渐进式有效样本加权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2667000"/>
            <a:ext cx="5143500" cy="1905000"/>
          </a:xfrm>
          <a:prstGeom prst="roundRect">
            <a:avLst>
              <a:gd name="adj" fmla="val 6000"/>
            </a:avLst>
          </a:prstGeom>
          <a:solidFill>
            <a:srgbClr val="1A5F7A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25855" y="29022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损失函数各部分贡献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9665" y="3363278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向心损失: +6.2%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143000" y="3667125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143000" y="3667125"/>
            <a:ext cx="2667000" cy="190500"/>
          </a:xfrm>
          <a:prstGeom prst="roundRect">
            <a:avLst>
              <a:gd name="adj" fmla="val 20000"/>
            </a:avLst>
          </a:prstGeom>
          <a:solidFill>
            <a:srgbClr val="1A5F7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29665" y="398240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分类损失: +3.1%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143000" y="4286250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143000" y="4286250"/>
            <a:ext cx="1714500" cy="190500"/>
          </a:xfrm>
          <a:prstGeom prst="roundRect">
            <a:avLst>
              <a:gd name="adj" fmla="val 20000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29665" y="4601528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加权机制: +8.5%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143000" y="4905375"/>
            <a:ext cx="3810000" cy="190500"/>
          </a:xfrm>
          <a:prstGeom prst="roundRect">
            <a:avLst>
              <a:gd name="adj" fmla="val 20000"/>
            </a:avLst>
          </a:prstGeom>
          <a:solidFill>
            <a:srgbClr val="E0E6ED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1143000" y="4905375"/>
            <a:ext cx="3333750" cy="1905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286500" y="2667000"/>
            <a:ext cx="5143500" cy="1905000"/>
          </a:xfrm>
          <a:prstGeom prst="roundRect">
            <a:avLst>
              <a:gd name="adj" fmla="val 6000"/>
            </a:avLst>
          </a:prstGeom>
          <a:solidFill>
            <a:srgbClr val="3498DB">
              <a:alpha val="1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650355" y="290226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不同数据集泛化性能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4165" y="3363278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PatternNet: +8.2%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165" y="369665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NWPU-RESISC45: +12.5%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165" y="4030028"/>
            <a:ext cx="1130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RSSCN7: +10.8%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165" y="4363402"/>
            <a:ext cx="9621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CLRS: +15.3%</a:t>
            </a:r>
          </a:p>
        </p:txBody>
      </p:sp>
      <p:sp>
        <p:nvSpPr>
          <p:cNvPr id="35" name="Line 35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785533" y="6522720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14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8665" y="3629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" y="47244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5F7A"/>
                </a:solidFill>
                <a:latin typeface="Arial"/>
                <a:ea typeface="Microsoft YaHei"/>
                <a:cs typeface="Arial"/>
              </a:rPr>
              <a:t>结论与展望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904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238250"/>
            <a:ext cx="5143500" cy="4000500"/>
          </a:xfrm>
          <a:prstGeom prst="roundRect">
            <a:avLst>
              <a:gd name="adj" fmla="val 2857"/>
            </a:avLst>
          </a:prstGeom>
          <a:solidFill>
            <a:srgbClr val="1A5F7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2045" y="1584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研究结论</a:t>
            </a:r>
          </a:p>
        </p:txBody>
      </p:sp>
      <p:sp>
        <p:nvSpPr>
          <p:cNvPr id="10" name="Line 10"/>
          <p:cNvSpPr/>
          <p:nvPr/>
        </p:nvSpPr>
        <p:spPr>
          <a:xfrm>
            <a:off x="1143000" y="20002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27760" y="2299335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✓ 加权向心哈希方法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260127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有效提升长尾遥感图像检索性能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760" y="310896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✓ 尾部类别检索性能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9665" y="3410902"/>
            <a:ext cx="13224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显著改善 (+18.3%)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7760" y="3918585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✓ 方法泛化能力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9665" y="422052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在多个数据集上表现良好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7760" y="472821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✓ 模型简洁性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9665" y="50301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未引入复杂网络结构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238250"/>
            <a:ext cx="5143500" cy="4000500"/>
          </a:xfrm>
          <a:prstGeom prst="roundRect">
            <a:avLst>
              <a:gd name="adj" fmla="val 2857"/>
            </a:avLst>
          </a:prstGeom>
          <a:solidFill>
            <a:srgbClr val="3498DB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46545" y="15840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498DB"/>
                </a:solidFill>
                <a:latin typeface="Arial"/>
                <a:ea typeface="Microsoft YaHei"/>
                <a:cs typeface="Arial"/>
              </a:rPr>
              <a:t>未来展望</a:t>
            </a:r>
          </a:p>
        </p:txBody>
      </p:sp>
      <p:sp>
        <p:nvSpPr>
          <p:cNvPr id="21" name="Line 21"/>
          <p:cNvSpPr/>
          <p:nvPr/>
        </p:nvSpPr>
        <p:spPr>
          <a:xfrm>
            <a:off x="6667500" y="20002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3498DB">
                <a:alpha val="30000"/>
              </a:srgbClr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667500" y="23812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899696" y="2552700"/>
            <a:ext cx="107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14260" y="2489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注意力机制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16165" y="279177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结合注意力机制进一步提升性能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67500" y="323850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2ECC7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870942" y="340995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14260" y="334708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跨模态检索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16165" y="3649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探索跨模态检索场景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667500" y="40957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870942" y="4267200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14260" y="4204335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C3E50"/>
                </a:solidFill>
                <a:latin typeface="Arial"/>
                <a:ea typeface="Microsoft YaHei"/>
                <a:cs typeface="Arial"/>
              </a:rPr>
              <a:t>动态加权策略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16165" y="45062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F8C8D"/>
                </a:solidFill>
                <a:latin typeface="Arial"/>
                <a:ea typeface="Microsoft YaHei"/>
                <a:cs typeface="Arial"/>
              </a:rPr>
              <a:t>研究动态加权策略</a:t>
            </a:r>
          </a:p>
        </p:txBody>
      </p:sp>
      <p:sp>
        <p:nvSpPr>
          <p:cNvPr id="34" name="Line 34"/>
          <p:cNvSpPr/>
          <p:nvPr/>
        </p:nvSpPr>
        <p:spPr>
          <a:xfrm>
            <a:off x="762000" y="0"/>
            <a:ext cx="10668000" cy="6477000"/>
          </a:xfrm>
          <a:custGeom>
            <a:avLst/>
            <a:gdLst/>
            <a:ahLst/>
            <a:cxnLst/>
            <a:rect l="l" t="t" r="r" b="b"/>
            <a:pathLst>
              <a:path w="10668000" h="6477000">
                <a:moveTo>
                  <a:pt x="0" y="0"/>
                </a:moveTo>
                <a:lnTo>
                  <a:pt x="10668000" y="6477000"/>
                </a:lnTo>
              </a:path>
            </a:pathLst>
          </a:custGeom>
          <a:noFill/>
          <a:ln w="9525">
            <a:solidFill>
              <a:srgbClr val="E0E6ED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785533" y="6522720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5A5A6"/>
                </a:solidFill>
                <a:latin typeface="Arial"/>
                <a:ea typeface="Microsoft YaHei"/>
                <a:cs typeface="Arial"/>
              </a:rPr>
              <a:t>— 15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5F7A"/>
              </a:gs>
              <a:gs pos="100000">
                <a:srgbClr val="3498DB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F7A">
              <a:alpha val="8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096250" y="-952500"/>
            <a:ext cx="4762500" cy="4762500"/>
          </a:xfrm>
          <a:prstGeom prst="ellipse">
            <a:avLst/>
          </a:prstGeom>
          <a:solidFill>
            <a:srgbClr val="3498DB">
              <a:alpha val="1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285750" y="4000500"/>
            <a:ext cx="3429000" cy="3429000"/>
          </a:xfrm>
          <a:prstGeom prst="ellipse">
            <a:avLst/>
          </a:prstGeom>
          <a:solidFill>
            <a:srgbClr val="2ECC71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754499" y="192786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17903" y="2726055"/>
            <a:ext cx="15561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8" name="Line 8"/>
          <p:cNvSpPr/>
          <p:nvPr/>
        </p:nvSpPr>
        <p:spPr>
          <a:xfrm>
            <a:off x="4191000" y="33337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FFFFFF">
                <a:alpha val="3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981575" y="383857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恳请各位老师批评指正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714750" y="4572000"/>
            <a:ext cx="4762500" cy="1143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191601" y="490251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感谢导师的悉心指导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93018" y="5235892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感谢实验室同学的帮助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88769" y="556926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感谢家人的支持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33788" y="6363652"/>
            <a:ext cx="724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— 16 / 16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